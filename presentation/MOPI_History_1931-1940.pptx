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a51c069-02b8-ee59-5a2f-2d85a8beea2d}">
          <p14:sldIdLst>
            <p14:sldId id="256"/>
          </p14:sldIdLst>
        </p14:section>
        <p14:section name="The First Decade" id="{1ea9688a-95ee-32b8-ad56-4f5720d2bd84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941" id="{d897a739-f253-9ebc-6d05-20d62e12e959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sh 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5212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0" y="0"/>
            <a:ext cx="457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212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R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7863840" y="0"/>
            <a:ext cx="432785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94944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Diagona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0"/>
            <a:ext cx="6339535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852160" y="0"/>
            <a:ext cx="633953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se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846320" y="50292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84632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Blush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hoto Righ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0"/>
            <a:ext cx="496793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7223760" y="0"/>
            <a:ext cx="496793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ECE4E7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6309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1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30936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hoto Lef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0" y="0"/>
            <a:ext cx="475488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ECE4E7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Click the icon to add a photo</a:t>
            </a: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ch outline" descr="/home/user/paintbot/presentation/photos/title_arch_ou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28600"/>
            <a:ext cx="5212080" cy="6400800"/>
          </a:xfrm>
          <a:prstGeom prst="rect">
            <a:avLst/>
          </a:prstGeom>
        </p:spPr>
      </p:pic>
      <p:pic>
        <p:nvPicPr>
          <p:cNvPr id="3" name="MOPI building" descr="Archive photo of the first and main pre-war MOPI building, Moscow, Podsosensky Lane, 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457200"/>
            <a:ext cx="475488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MOSCOW REGIONAL PEDAGOGICAL INSTITUTE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46304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200" kern="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HISTORY OF</a:t>
            </a:r>
            <a:endParaRPr lang="en-US" sz="4000" dirty="0"/>
          </a:p>
          <a:p>
            <a:pPr algn="l" indent="0" marL="0">
              <a:buNone/>
            </a:pPr>
            <a:r>
              <a:rPr lang="en-US" sz="4000" spc="200" kern="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MY UNIVERSITY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1931 – 1940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PRESENTED BY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920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Margarita Kondakova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Elizaveta Vashchina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Alexandra Abdulmanova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ploma mat"/>
          <p:cNvSpPr/>
          <p:nvPr/>
        </p:nvSpPr>
        <p:spPr>
          <a:xfrm>
            <a:off x="411480" y="1874520"/>
            <a:ext cx="3749040" cy="2715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5E5459">
                <a:alpha val="25000"/>
              </a:srgbClr>
            </a:outerShdw>
          </a:effectLst>
        </p:spPr>
      </p:sp>
      <p:pic>
        <p:nvPicPr>
          <p:cNvPr id="3" name="Diploma 1931" descr="MOPI diploma, 19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65960"/>
            <a:ext cx="3566160" cy="25328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754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MOPI diploma, 1931</a:t>
            </a:r>
            <a:endParaRPr lang="en-US" sz="1100" dirty="0"/>
          </a:p>
        </p:txBody>
      </p:sp>
      <p:sp>
        <p:nvSpPr>
          <p:cNvPr id="5" name="Decor 1931"/>
          <p:cNvSpPr txBox="1"/>
          <p:nvPr/>
        </p:nvSpPr>
        <p:spPr>
          <a:xfrm>
            <a:off x="5212080" y="457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0" dirty="0">
                <a:solidFill>
                  <a:schemeClr val="bg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150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All Began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600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THE BEGINNING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19202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 June 1, 1931 our university was founded. At first it was called the Moscow Regional Industrial-Pedagogical Institute. Later it got a simpler name — the Moscow Regional Pedagogical Institute (MOPI).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21208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WHY IT WAS NEEDED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39319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new institute appeared because the country badly needed teachers. In 1932, the Moscow region introduced universal seven-year education, so schools needed many qualified teachers. The government also wanted MOPI to become a model pedagogical university for other regions.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MOPI"/>
          <p:cNvSpPr txBox="1"/>
          <p:nvPr/>
        </p:nvSpPr>
        <p:spPr>
          <a:xfrm>
            <a:off x="411480" y="502920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5000"/>
              </a:lnSpc>
              <a:buNone/>
            </a:pPr>
            <a:r>
              <a:rPr lang="en-US" sz="15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</a:t>
            </a:r>
            <a:endParaRPr lang="en-US" sz="150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15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</a:t>
            </a:r>
            <a:endParaRPr lang="en-US" sz="15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806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LEADERSHIP  ·  1931–1941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4846320" y="502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Directors of MOPI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37160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The leadership changed quite often, which reflected the difficult political times.</a:t>
            </a:r>
            <a:endParaRPr lang="en-US" sz="1600" dirty="0"/>
          </a:p>
        </p:txBody>
      </p:sp>
      <p:pic>
        <p:nvPicPr>
          <p:cNvPr id="6" name="Portrait Afanasy Vasilyevich Shulgin" descr="Afanasy Vasilyevich Shul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2194560"/>
            <a:ext cx="868680" cy="1143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89320" y="2468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52374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Afanasy Vasilyevich Shulgin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9077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first director</a:t>
            </a:r>
            <a:endParaRPr lang="en-US" sz="1400" dirty="0"/>
          </a:p>
        </p:txBody>
      </p:sp>
      <p:pic>
        <p:nvPicPr>
          <p:cNvPr id="10" name="Portrait A. A. Savrasova" descr="A. A. Savraso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493008"/>
            <a:ext cx="868680" cy="1143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893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1935–1936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38221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A. A. Savrasova</a:t>
            </a:r>
            <a:endParaRPr lang="en-US" sz="1800" dirty="0"/>
          </a:p>
        </p:txBody>
      </p:sp>
      <p:pic>
        <p:nvPicPr>
          <p:cNvPr id="13" name="Portrait D. A. Allakhverdyan" descr="D. A. Allakhverdy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791456"/>
            <a:ext cx="868680" cy="1143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989320" y="506577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1938–1941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8001000" y="5120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D. A. Allakhverdyan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aculties_group1933.jpg" descr="Group A, 2nd year, Literature faculty of MOPI, 19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Diagonal cut"/>
          <p:cNvSpPr/>
          <p:nvPr/>
        </p:nvSpPr>
        <p:spPr>
          <a:xfrm flipV="1">
            <a:off x="5843016" y="-9144"/>
            <a:ext cx="2103120" cy="6876288"/>
          </a:xfrm>
          <a:prstGeom prst="rtTriangl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Diagonal line"/>
          <p:cNvSpPr/>
          <p:nvPr/>
        </p:nvSpPr>
        <p:spPr>
          <a:xfrm flipH="1">
            <a:off x="5989320" y="0"/>
            <a:ext cx="2011680" cy="68580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5" name="Caption strip"/>
          <p:cNvSpPr/>
          <p:nvPr/>
        </p:nvSpPr>
        <p:spPr>
          <a:xfrm>
            <a:off x="7863840" y="6172200"/>
            <a:ext cx="4325112" cy="384048"/>
          </a:xfrm>
          <a:prstGeom prst="rect">
            <a:avLst/>
          </a:prstGeom>
          <a:solidFill>
            <a:schemeClr val="tx1">
              <a:alpha val="7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01000" y="6172200"/>
            <a:ext cx="4050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Group A, 2nd year, Literature faculty, 1933</a:t>
            </a:r>
            <a:endParaRPr lang="en-US" sz="1100" dirty="0"/>
          </a:p>
        </p:txBody>
      </p:sp>
      <p:sp>
        <p:nvSpPr>
          <p:cNvPr id="7" name="Text 1"/>
          <p:cNvSpPr/>
          <p:nvPr>
            <p:ph idx="102" type="title" hasCustomPrompt="1"/>
          </p:nvPr>
        </p:nvSpPr>
        <p:spPr>
          <a:xfrm>
            <a:off x="640080" y="502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Faculties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 the start, the institute had three faculties: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11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Social and Literary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468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with a history department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8803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Physics and Mathematics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3840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Chemistry and Technology</a:t>
            </a:r>
            <a:endParaRPr lang="en-US" sz="1900" dirty="0"/>
          </a:p>
        </p:txBody>
      </p:sp>
      <p:sp>
        <p:nvSpPr>
          <p:cNvPr id="16" name="Stat card 1"/>
          <p:cNvSpPr/>
          <p:nvPr/>
        </p:nvSpPr>
        <p:spPr>
          <a:xfrm>
            <a:off x="640080" y="4754880"/>
            <a:ext cx="237744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4846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36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40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departments</a:t>
            </a:r>
            <a:endParaRPr lang="en-US" sz="1400" dirty="0"/>
          </a:p>
        </p:txBody>
      </p:sp>
      <p:sp>
        <p:nvSpPr>
          <p:cNvPr id="19" name="Stat card 2"/>
          <p:cNvSpPr/>
          <p:nvPr/>
        </p:nvSpPr>
        <p:spPr>
          <a:xfrm>
            <a:off x="3200400" y="4754880"/>
            <a:ext cx="237744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429000" y="4846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3429000" y="5440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methodical office</a:t>
            </a:r>
            <a:endParaRPr lang="en-US" sz="1400" dirty="0"/>
          </a:p>
        </p:txBody>
      </p:sp>
      <p:sp>
        <p:nvSpPr>
          <p:cNvPr id="22" name="Text 1"/>
          <p:cNvSpPr/>
          <p:nvPr>
            <p:ph type="pic" idx="101" hasCustomPrompt="1"/>
          </p:nvPr>
        </p:nvSpPr>
        <p:spPr>
          <a:xfrm>
            <a:off x="5852160" y="0"/>
            <a:ext cx="6339535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1932"/>
          <p:cNvSpPr txBox="1"/>
          <p:nvPr/>
        </p:nvSpPr>
        <p:spPr>
          <a:xfrm>
            <a:off x="5486400" y="4572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0" dirty="0">
                <a:solidFill>
                  <a:schemeClr val="bg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1932</a:t>
            </a:r>
            <a:endParaRPr lang="en-US" sz="13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in 1932–1935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The institute grew quickly.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BY 1933 — SIX FULL-TIME FACULTIES</a:t>
            </a:r>
            <a:endParaRPr lang="en-US" sz="1100" dirty="0"/>
          </a:p>
        </p:txBody>
      </p:sp>
      <p:sp>
        <p:nvSpPr>
          <p:cNvPr id="6" name="Faculty Literature"/>
          <p:cNvSpPr/>
          <p:nvPr/>
        </p:nvSpPr>
        <p:spPr>
          <a:xfrm>
            <a:off x="640080" y="237744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5420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</a:t>
            </a:r>
            <a:endParaRPr lang="en-US" sz="2000" dirty="0"/>
          </a:p>
        </p:txBody>
      </p:sp>
      <p:sp>
        <p:nvSpPr>
          <p:cNvPr id="9" name="Faculty Geography"/>
          <p:cNvSpPr/>
          <p:nvPr/>
        </p:nvSpPr>
        <p:spPr>
          <a:xfrm>
            <a:off x="2743200" y="237744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5420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Geography</a:t>
            </a:r>
            <a:endParaRPr lang="en-US" sz="2000" dirty="0"/>
          </a:p>
        </p:txBody>
      </p:sp>
      <p:sp>
        <p:nvSpPr>
          <p:cNvPr id="12" name="Faculty Physics"/>
          <p:cNvSpPr/>
          <p:nvPr/>
        </p:nvSpPr>
        <p:spPr>
          <a:xfrm>
            <a:off x="4846320" y="237744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25420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Physics</a:t>
            </a:r>
            <a:endParaRPr lang="en-US" sz="2000" dirty="0"/>
          </a:p>
        </p:txBody>
      </p:sp>
      <p:sp>
        <p:nvSpPr>
          <p:cNvPr id="15" name="Faculty Chemistry"/>
          <p:cNvSpPr/>
          <p:nvPr/>
        </p:nvSpPr>
        <p:spPr>
          <a:xfrm>
            <a:off x="640080" y="406908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2336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983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Chemistry</a:t>
            </a:r>
            <a:endParaRPr lang="en-US" sz="2000" dirty="0"/>
          </a:p>
        </p:txBody>
      </p:sp>
      <p:sp>
        <p:nvSpPr>
          <p:cNvPr id="18" name="Faculty Economics"/>
          <p:cNvSpPr/>
          <p:nvPr/>
        </p:nvSpPr>
        <p:spPr>
          <a:xfrm>
            <a:off x="2743200" y="406908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26080" y="42336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4983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Economics</a:t>
            </a:r>
            <a:endParaRPr lang="en-US" sz="2000" dirty="0"/>
          </a:p>
        </p:txBody>
      </p:sp>
      <p:sp>
        <p:nvSpPr>
          <p:cNvPr id="21" name="Faculty History"/>
          <p:cNvSpPr/>
          <p:nvPr/>
        </p:nvSpPr>
        <p:spPr>
          <a:xfrm>
            <a:off x="4846320" y="406908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0" y="42336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4983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History</a:t>
            </a:r>
            <a:endParaRPr lang="en-US" sz="2000" dirty="0"/>
          </a:p>
        </p:txBody>
      </p:sp>
      <p:sp>
        <p:nvSpPr>
          <p:cNvPr id="24" name="Growth card 1"/>
          <p:cNvSpPr/>
          <p:nvPr/>
        </p:nvSpPr>
        <p:spPr>
          <a:xfrm>
            <a:off x="7269480" y="1965960"/>
            <a:ext cx="4279392" cy="1783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43800" y="213055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1932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915400" y="2240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Correspondence department opened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28803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People could become teachers without leaving their jobs.</a:t>
            </a:r>
            <a:endParaRPr lang="en-US" sz="1400" dirty="0"/>
          </a:p>
        </p:txBody>
      </p:sp>
      <p:sp>
        <p:nvSpPr>
          <p:cNvPr id="28" name="Growth card 2"/>
          <p:cNvSpPr/>
          <p:nvPr/>
        </p:nvSpPr>
        <p:spPr>
          <a:xfrm>
            <a:off x="7269480" y="3931920"/>
            <a:ext cx="4279392" cy="1783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43800" y="409651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4206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First graduates, 1934/35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543800" y="484632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All from the History faculty — the number was small because the university was still very young.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Famous Professors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212080" y="1325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Despite political pressure, MOPI had a strong teaching staff. Famous historians worked here: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212080" y="20756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21305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N. L. Rubinstein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92440" y="21031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the History of the USSR department</a:t>
            </a:r>
            <a:endParaRPr lang="en-US" sz="1400" dirty="0"/>
          </a:p>
        </p:txBody>
      </p:sp>
      <p:sp>
        <p:nvSpPr>
          <p:cNvPr id="8" name="Row rule 1"/>
          <p:cNvSpPr/>
          <p:nvPr/>
        </p:nvSpPr>
        <p:spPr>
          <a:xfrm>
            <a:off x="5212080" y="2624328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12080" y="2697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275234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B. A. Rybakov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272491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future academician, worked at MOPI from 1934 to 1952</a:t>
            </a:r>
            <a:endParaRPr lang="en-US" sz="1400" dirty="0"/>
          </a:p>
        </p:txBody>
      </p:sp>
      <p:sp>
        <p:nvSpPr>
          <p:cNvPr id="12" name="Row rule 2"/>
          <p:cNvSpPr/>
          <p:nvPr/>
        </p:nvSpPr>
        <p:spPr>
          <a:xfrm>
            <a:off x="5212080" y="3246120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12080" y="33192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337413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V. M. Khvostov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334670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the Modern History department</a:t>
            </a:r>
            <a:endParaRPr lang="en-US" sz="1400" dirty="0"/>
          </a:p>
        </p:txBody>
      </p:sp>
      <p:sp>
        <p:nvSpPr>
          <p:cNvPr id="16" name="Row rule 3"/>
          <p:cNvSpPr/>
          <p:nvPr/>
        </p:nvSpPr>
        <p:spPr>
          <a:xfrm>
            <a:off x="5212080" y="3867912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3941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39959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B. F. Porshnev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396849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Ancient and Medieval History</a:t>
            </a:r>
            <a:endParaRPr lang="en-US" sz="1400" dirty="0"/>
          </a:p>
        </p:txBody>
      </p:sp>
      <p:sp>
        <p:nvSpPr>
          <p:cNvPr id="20" name="Row rule 4"/>
          <p:cNvSpPr/>
          <p:nvPr/>
        </p:nvSpPr>
        <p:spPr>
          <a:xfrm>
            <a:off x="5212080" y="4489704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0" y="456285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4617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A. V. Shestakov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459028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author of a school textbook on USSR history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5349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Students remembered these professors as brilliant teachers.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502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1937–1939: New Steps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FIRST ACADEMIC JOURNAL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1937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Uchyonye Zapiski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institute started publishing its own academic journal, “Uchyonye Zapiski.”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POSTGRADUATE STUDIES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160520" y="18745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1939</a:t>
            </a:r>
            <a:endParaRPr lang="en-US" sz="80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3108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Aspirantura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7033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Postgraduate studies opened. This was an important step for training young scientists.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94944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of the First Decade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945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teachers graduated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from the History faculty alone, 1931–1941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2,582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students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studied at MOPI by June 1941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library founded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it grew together with the institute</a:t>
            </a:r>
            <a:endParaRPr lang="en-US" sz="1500" dirty="0"/>
          </a:p>
        </p:txBody>
      </p:sp>
      <p:sp>
        <p:nvSpPr>
          <p:cNvPr id="12" name="Summary card"/>
          <p:cNvSpPr/>
          <p:nvPr/>
        </p:nvSpPr>
        <p:spPr>
          <a:xfrm>
            <a:off x="640080" y="4251960"/>
            <a:ext cx="10908792" cy="1600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9E6475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05840" y="443484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 with other faculties the number was much bigger. </a:t>
            </a:r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MOPI became one of the leading centres for teacher training in the country.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ar_building.jpg" descr="The first and main pre-war MOPI building, Moscow, Podsosensky Lane,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Caption strip"/>
          <p:cNvSpPr/>
          <p:nvPr/>
        </p:nvSpPr>
        <p:spPr>
          <a:xfrm>
            <a:off x="7223760" y="6172200"/>
            <a:ext cx="4967935" cy="384048"/>
          </a:xfrm>
          <a:prstGeom prst="rect">
            <a:avLst/>
          </a:prstGeom>
          <a:solidFill>
            <a:schemeClr val="tx1">
              <a:alpha val="7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60920" y="6172200"/>
            <a:ext cx="4693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MOPI's main pre-war building, Podsosensky Lane, 20</a:t>
            </a:r>
            <a:endParaRPr lang="en-US" sz="11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5029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1941: The War Begins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280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October 15, 1941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202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CE4E7"/>
                </a:solidFill>
              </a:rPr>
              <a:t>Classes stopped. The institute was evacuated. Students marched to Murom, and later professors and teachers were moved to the town of Malmyzh in the Kirov region.</a:t>
            </a:r>
            <a:endParaRPr lang="en-US" sz="1600" dirty="0"/>
          </a:p>
        </p:txBody>
      </p:sp>
      <p:sp>
        <p:nvSpPr>
          <p:cNvPr id="8" name="Route line"/>
          <p:cNvSpPr/>
          <p:nvPr/>
        </p:nvSpPr>
        <p:spPr>
          <a:xfrm>
            <a:off x="768096" y="3328416"/>
            <a:ext cx="45720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9" name="Route stop Moscow"/>
          <p:cNvSpPr/>
          <p:nvPr/>
        </p:nvSpPr>
        <p:spPr>
          <a:xfrm>
            <a:off x="640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Moscow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classes stop</a:t>
            </a:r>
            <a:endParaRPr lang="en-US" sz="1300" dirty="0"/>
          </a:p>
        </p:txBody>
      </p:sp>
      <p:sp>
        <p:nvSpPr>
          <p:cNvPr id="12" name="Route stop Murom"/>
          <p:cNvSpPr/>
          <p:nvPr/>
        </p:nvSpPr>
        <p:spPr>
          <a:xfrm>
            <a:off x="2926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6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Murom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926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students march here</a:t>
            </a:r>
            <a:endParaRPr lang="en-US" sz="1300" dirty="0"/>
          </a:p>
        </p:txBody>
      </p:sp>
      <p:sp>
        <p:nvSpPr>
          <p:cNvPr id="15" name="Route stop Malmyzh"/>
          <p:cNvSpPr/>
          <p:nvPr/>
        </p:nvSpPr>
        <p:spPr>
          <a:xfrm>
            <a:off x="5212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Malmyzh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212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Kirov region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264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full-time students remained by the start of 1941/42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6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273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2926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students arrived in Malmyzh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4800" dirty="0"/>
          </a:p>
        </p:txBody>
      </p:sp>
      <p:sp>
        <p:nvSpPr>
          <p:cNvPr id="23" name="Text 20"/>
          <p:cNvSpPr txBox="1"/>
          <p:nvPr/>
        </p:nvSpPr>
        <p:spPr>
          <a:xfrm>
            <a:off x="5212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teachers arrived in Malmyzh</a:t>
            </a:r>
            <a:endParaRPr lang="en-US" sz="1400" dirty="0"/>
          </a:p>
        </p:txBody>
      </p:sp>
      <p:sp>
        <p:nvSpPr>
          <p:cNvPr id="24" name="Text 1"/>
          <p:cNvSpPr/>
          <p:nvPr>
            <p:ph type="pic" idx="101" hasCustomPrompt="1"/>
          </p:nvPr>
        </p:nvSpPr>
        <p:spPr>
          <a:xfrm>
            <a:off x="7223760" y="0"/>
            <a:ext cx="4967935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30936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_group1933.jpg" descr="Group A, 2nd year, Literature faculty of MOPI, 19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54880" cy="6858000"/>
          </a:xfrm>
          <a:prstGeom prst="rect">
            <a:avLst/>
          </a:prstGeom>
        </p:spPr>
      </p:pic>
      <p:sp>
        <p:nvSpPr>
          <p:cNvPr id="3" name="Caption strip"/>
          <p:cNvSpPr/>
          <p:nvPr/>
        </p:nvSpPr>
        <p:spPr>
          <a:xfrm>
            <a:off x="0" y="6172200"/>
            <a:ext cx="4754880" cy="384048"/>
          </a:xfrm>
          <a:prstGeom prst="rect">
            <a:avLst/>
          </a:prstGeom>
          <a:solidFill>
            <a:schemeClr val="tx1">
              <a:alpha val="7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7160" y="61722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Literature faculty students, 1933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14173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TO BE CONTINUED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182880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 that is already a different page of our history 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338328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the war years.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58521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Margarita Kondakova  ·  Elizaveta Vashchina  ·  Alexandra Abdulmanova</a:t>
            </a:r>
            <a:endParaRPr lang="en-US" sz="1200" dirty="0"/>
          </a:p>
        </p:txBody>
      </p:sp>
      <p:sp>
        <p:nvSpPr>
          <p:cNvPr id="9" name="Text 1"/>
          <p:cNvSpPr/>
          <p:nvPr>
            <p:ph type="pic" idx="101" hasCustomPrompt="1"/>
          </p:nvPr>
        </p:nvSpPr>
        <p:spPr>
          <a:xfrm>
            <a:off x="0" y="0"/>
            <a:ext cx="475488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PI Rose">
  <a:themeElements>
    <a:clrScheme name="MOPI Rose">
      <a:dk1>
        <a:srgbClr val="2B2A2E"/>
      </a:dk1>
      <a:lt1>
        <a:srgbClr val="FFFFFF"/>
      </a:lt1>
      <a:dk2>
        <a:srgbClr val="5E5459"/>
      </a:dk2>
      <a:lt2>
        <a:srgbClr val="F6E9ED"/>
      </a:lt2>
      <a:accent1>
        <a:srgbClr val="C48B9C"/>
      </a:accent1>
      <a:accent2>
        <a:srgbClr val="9E6475"/>
      </a:accent2>
      <a:accent3>
        <a:srgbClr val="E8CBD4"/>
      </a:accent3>
      <a:accent4>
        <a:srgbClr val="8C8C91"/>
      </a:accent4>
      <a:accent5>
        <a:srgbClr val="4A4448"/>
      </a:accent5>
      <a:accent6>
        <a:srgbClr val="D9B8A0"/>
      </a:accent6>
      <a:hlink>
        <a:srgbClr val="9E6475"/>
      </a:hlink>
      <a:folHlink>
        <a:srgbClr val="5E5459"/>
      </a:folHlink>
    </a:clrScheme>
    <a:fontScheme name="MOPI Ros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 of My University: 1931-1940</dc:title>
  <dc:subject>PptxGenJS Presentation</dc:subject>
  <dc:creator>Margarita Kondakova, Elizaveta Vashchina, Alexandra Abdulmanova</dc:creator>
  <cp:lastModifiedBy>Margarita Kondakova, Elizaveta Vashchina, Alexandra Abdulmanova</cp:lastModifiedBy>
  <cp:revision>1</cp:revision>
  <dcterms:created xsi:type="dcterms:W3CDTF">2026-10-08T17:27:27Z</dcterms:created>
  <dcterms:modified xsi:type="dcterms:W3CDTF">2026-10-08T17:27:27Z</dcterms:modified>
</cp:coreProperties>
</file>