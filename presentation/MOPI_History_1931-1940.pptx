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9b8ca47-a073-f580-cb1b-6f4bad823b36}">
          <p14:sldIdLst>
            <p14:sldId id="256"/>
          </p14:sldIdLst>
        </p14:section>
        <p14:section name="The First Decade" id="{176ef4a5-1768-c58e-87de-93e7baf3f576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1941" id="{bebf3482-9507-29e3-b2b8-cfa77a927886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0"/>
            <a:ext cx="6156655" cy="68580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6035040" y="0"/>
            <a:ext cx="6156655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ECE4E7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ECE4E7"/>
                </a:solidFill>
              </a:rPr>
              <a:t>Click the icon to add a photo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463040"/>
            <a:ext cx="52120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Lef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0" y="0"/>
            <a:ext cx="457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5E5459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5E5459"/>
                </a:solidFill>
              </a:rPr>
              <a:t>Click the icon to add a photo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212080" y="50292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5212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R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7863840" y="0"/>
            <a:ext cx="4327855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5E5459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5E5459"/>
                </a:solidFill>
              </a:rPr>
              <a:t>Click the icon to add a photo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502920"/>
            <a:ext cx="67665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94944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Diagona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0"/>
            <a:ext cx="6339535" cy="68580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5852160" y="0"/>
            <a:ext cx="6339535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5E5459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5E5459"/>
                </a:solidFill>
              </a:rPr>
              <a:t>Click the icon to add a photo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502920"/>
            <a:ext cx="5120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84632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ose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846320" y="502920"/>
            <a:ext cx="67665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84632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Blush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Photo Righ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0"/>
            <a:ext cx="4967935" cy="68580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7223760" y="0"/>
            <a:ext cx="4967935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ECE4E7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ECE4E7"/>
                </a:solidFill>
              </a:rPr>
              <a:t>Click the icon to add a photo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502920"/>
            <a:ext cx="6309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1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30936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Photo Lef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0" y="0"/>
            <a:ext cx="475488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ECE4E7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ECE4E7"/>
                </a:solidFill>
              </a:rPr>
              <a:t>Click the icon to add a photo</a:t>
            </a: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6035040" y="0"/>
            <a:ext cx="6156655" cy="6858000"/>
          </a:xfrm>
          <a:prstGeom prst="rect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MOSCOW REGIONAL PEDAGOGICAL INSTITUTE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463040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spc="200" kern="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HISTORY OF</a:t>
            </a:r>
            <a:endParaRPr lang="en-US" sz="4000" dirty="0"/>
          </a:p>
          <a:p>
            <a:pPr algn="l" indent="0" marL="0">
              <a:buNone/>
            </a:pPr>
            <a:r>
              <a:rPr lang="en-US" sz="4000" spc="200" kern="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MY UNIVERSITY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461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1931 – 1940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572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PRESENTED BY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8920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Margarita Kondakova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Elizaveta Vashchina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Alexandra Abdulmanova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" name="Decor 1931"/>
          <p:cNvSpPr txBox="1"/>
          <p:nvPr/>
        </p:nvSpPr>
        <p:spPr>
          <a:xfrm>
            <a:off x="5212080" y="45720"/>
            <a:ext cx="6492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0" dirty="0">
                <a:solidFill>
                  <a:schemeClr val="bg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1931</a:t>
            </a:r>
            <a:endParaRPr lang="en-US" sz="15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212080" y="5029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All Began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212080" y="1600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THE BEGINNING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192024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 June 1, 1931 our university was founded. At first it was called the Moscow Regional Industrial-Pedagogical Institute. Later it got a simpler name — the Moscow Regional Pedagogical Institute (MOPI).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212080" y="3611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WHY IT WAS NEEDED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393192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new institute appeared because the country badly needed teachers. In 1932, the Moscow region introduced universal seven-year education, so schools needed many qualified teachers. The government also wanted MOPI to become a model pedagogical university for other regions.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MOPI"/>
          <p:cNvSpPr txBox="1"/>
          <p:nvPr/>
        </p:nvSpPr>
        <p:spPr>
          <a:xfrm>
            <a:off x="411480" y="502920"/>
            <a:ext cx="35661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5000"/>
              </a:lnSpc>
              <a:buNone/>
            </a:pPr>
            <a:r>
              <a:rPr lang="en-US" sz="15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</a:t>
            </a:r>
            <a:endParaRPr lang="en-US" sz="15000" dirty="0"/>
          </a:p>
          <a:p>
            <a:pPr indent="0" marL="0">
              <a:lnSpc>
                <a:spcPct val="85000"/>
              </a:lnSpc>
              <a:buNone/>
            </a:pPr>
            <a:r>
              <a:rPr lang="en-US" sz="15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</a:t>
            </a:r>
            <a:endParaRPr lang="en-US" sz="15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806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LEADERSHIP  ·  1931–1941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4846320" y="5029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Directors of MOPI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37160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The leadership changed quite often, which reflected the difficult political times.</a:t>
            </a:r>
            <a:endParaRPr lang="en-US" sz="1600" dirty="0"/>
          </a:p>
        </p:txBody>
      </p:sp>
      <p:sp>
        <p:nvSpPr>
          <p:cNvPr id="6" name="Timeline"/>
          <p:cNvSpPr/>
          <p:nvPr/>
        </p:nvSpPr>
        <p:spPr>
          <a:xfrm>
            <a:off x="4983480" y="2514600"/>
            <a:ext cx="0" cy="274320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7" name="Timeline dot 1"/>
          <p:cNvSpPr/>
          <p:nvPr/>
        </p:nvSpPr>
        <p:spPr>
          <a:xfrm>
            <a:off x="4873752" y="2505456"/>
            <a:ext cx="219456" cy="219456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49240" y="23774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1931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4505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Afanasy Vasilyevich Shulgin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first director</a:t>
            </a:r>
            <a:endParaRPr lang="en-US" sz="1400" dirty="0"/>
          </a:p>
        </p:txBody>
      </p:sp>
      <p:sp>
        <p:nvSpPr>
          <p:cNvPr id="11" name="Timeline dot 2"/>
          <p:cNvSpPr/>
          <p:nvPr/>
        </p:nvSpPr>
        <p:spPr>
          <a:xfrm>
            <a:off x="4873752" y="3694176"/>
            <a:ext cx="219456" cy="219456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49240" y="3566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1935–1936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6393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A. A. Savrasova</a:t>
            </a:r>
            <a:endParaRPr lang="en-US" sz="1800" dirty="0"/>
          </a:p>
        </p:txBody>
      </p:sp>
      <p:sp>
        <p:nvSpPr>
          <p:cNvPr id="14" name="Timeline dot 3"/>
          <p:cNvSpPr/>
          <p:nvPr/>
        </p:nvSpPr>
        <p:spPr>
          <a:xfrm>
            <a:off x="4873752" y="4882896"/>
            <a:ext cx="219456" cy="219456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49240" y="47548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1938–1941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48280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D. A. Allakhverdyan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5852160" y="0"/>
            <a:ext cx="6339535" cy="68580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" name="Diagonal cut"/>
          <p:cNvSpPr/>
          <p:nvPr/>
        </p:nvSpPr>
        <p:spPr>
          <a:xfrm flipV="1">
            <a:off x="5843016" y="-9144"/>
            <a:ext cx="2103120" cy="6876288"/>
          </a:xfrm>
          <a:prstGeom prst="rtTriangl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Diagonal line"/>
          <p:cNvSpPr/>
          <p:nvPr/>
        </p:nvSpPr>
        <p:spPr>
          <a:xfrm flipH="1">
            <a:off x="5989320" y="0"/>
            <a:ext cx="2011680" cy="685800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502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 Faculties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At the start, the institute had three faculties: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116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Social and Literary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468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with a history department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803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Physics and Mathematics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49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840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Chemistry and Technology</a:t>
            </a:r>
            <a:endParaRPr lang="en-US" sz="1900" dirty="0"/>
          </a:p>
        </p:txBody>
      </p:sp>
      <p:sp>
        <p:nvSpPr>
          <p:cNvPr id="14" name="Stat card 1"/>
          <p:cNvSpPr/>
          <p:nvPr/>
        </p:nvSpPr>
        <p:spPr>
          <a:xfrm>
            <a:off x="640080" y="4754880"/>
            <a:ext cx="2377440" cy="1143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846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5440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departments</a:t>
            </a:r>
            <a:endParaRPr lang="en-US" sz="1400" dirty="0"/>
          </a:p>
        </p:txBody>
      </p:sp>
      <p:sp>
        <p:nvSpPr>
          <p:cNvPr id="17" name="Stat card 2"/>
          <p:cNvSpPr/>
          <p:nvPr/>
        </p:nvSpPr>
        <p:spPr>
          <a:xfrm>
            <a:off x="3200400" y="4754880"/>
            <a:ext cx="2377440" cy="1143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4846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5440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methodical office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84632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1932"/>
          <p:cNvSpPr txBox="1"/>
          <p:nvPr/>
        </p:nvSpPr>
        <p:spPr>
          <a:xfrm>
            <a:off x="5486400" y="4572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0" dirty="0">
                <a:solidFill>
                  <a:schemeClr val="bg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1932</a:t>
            </a:r>
            <a:endParaRPr lang="en-US" sz="13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Growth in 1932–1935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The institute grew quickly.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BY 1933 — SIX FULL-TIME FACULTIES</a:t>
            </a:r>
            <a:endParaRPr lang="en-US" sz="1100" dirty="0"/>
          </a:p>
        </p:txBody>
      </p:sp>
      <p:sp>
        <p:nvSpPr>
          <p:cNvPr id="6" name="Faculty Literature"/>
          <p:cNvSpPr/>
          <p:nvPr/>
        </p:nvSpPr>
        <p:spPr>
          <a:xfrm>
            <a:off x="640080" y="2377440"/>
            <a:ext cx="1920240" cy="1508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5420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</a:t>
            </a:r>
            <a:endParaRPr lang="en-US" sz="2000" dirty="0"/>
          </a:p>
        </p:txBody>
      </p:sp>
      <p:sp>
        <p:nvSpPr>
          <p:cNvPr id="9" name="Faculty Geography"/>
          <p:cNvSpPr/>
          <p:nvPr/>
        </p:nvSpPr>
        <p:spPr>
          <a:xfrm>
            <a:off x="2743200" y="2377440"/>
            <a:ext cx="1920240" cy="1508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25420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3291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Geography</a:t>
            </a:r>
            <a:endParaRPr lang="en-US" sz="2000" dirty="0"/>
          </a:p>
        </p:txBody>
      </p:sp>
      <p:sp>
        <p:nvSpPr>
          <p:cNvPr id="12" name="Faculty Physics"/>
          <p:cNvSpPr/>
          <p:nvPr/>
        </p:nvSpPr>
        <p:spPr>
          <a:xfrm>
            <a:off x="4846320" y="2377440"/>
            <a:ext cx="1920240" cy="1508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25420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3291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Physics</a:t>
            </a:r>
            <a:endParaRPr lang="en-US" sz="2000" dirty="0"/>
          </a:p>
        </p:txBody>
      </p:sp>
      <p:sp>
        <p:nvSpPr>
          <p:cNvPr id="15" name="Faculty Chemistry"/>
          <p:cNvSpPr/>
          <p:nvPr/>
        </p:nvSpPr>
        <p:spPr>
          <a:xfrm>
            <a:off x="640080" y="4069080"/>
            <a:ext cx="1920240" cy="1508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2336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983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Chemistry</a:t>
            </a:r>
            <a:endParaRPr lang="en-US" sz="2000" dirty="0"/>
          </a:p>
        </p:txBody>
      </p:sp>
      <p:sp>
        <p:nvSpPr>
          <p:cNvPr id="18" name="Faculty Economics"/>
          <p:cNvSpPr/>
          <p:nvPr/>
        </p:nvSpPr>
        <p:spPr>
          <a:xfrm>
            <a:off x="2743200" y="4069080"/>
            <a:ext cx="1920240" cy="1508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26080" y="42336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2926080" y="4983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Economics</a:t>
            </a:r>
            <a:endParaRPr lang="en-US" sz="2000" dirty="0"/>
          </a:p>
        </p:txBody>
      </p:sp>
      <p:sp>
        <p:nvSpPr>
          <p:cNvPr id="21" name="Faculty History"/>
          <p:cNvSpPr/>
          <p:nvPr/>
        </p:nvSpPr>
        <p:spPr>
          <a:xfrm>
            <a:off x="4846320" y="4069080"/>
            <a:ext cx="1920240" cy="1508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0" y="42336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4983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History</a:t>
            </a:r>
            <a:endParaRPr lang="en-US" sz="2000" dirty="0"/>
          </a:p>
        </p:txBody>
      </p:sp>
      <p:sp>
        <p:nvSpPr>
          <p:cNvPr id="24" name="Growth card 1"/>
          <p:cNvSpPr/>
          <p:nvPr/>
        </p:nvSpPr>
        <p:spPr>
          <a:xfrm>
            <a:off x="7269480" y="1965960"/>
            <a:ext cx="4279392" cy="17830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43800" y="2130552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1932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8915400" y="22402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Correspondence department opened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543800" y="288036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People could become teachers without leaving their jobs.</a:t>
            </a:r>
            <a:endParaRPr lang="en-US" sz="1400" dirty="0"/>
          </a:p>
        </p:txBody>
      </p:sp>
      <p:sp>
        <p:nvSpPr>
          <p:cNvPr id="28" name="Growth card 2"/>
          <p:cNvSpPr/>
          <p:nvPr/>
        </p:nvSpPr>
        <p:spPr>
          <a:xfrm>
            <a:off x="7269480" y="3931920"/>
            <a:ext cx="4279392" cy="17830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43800" y="4096512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8915400" y="42062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First graduates, 1934/35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543800" y="484632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All from the History faculty — the number was small because the university was still very young.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212080" y="5029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Famous Professors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212080" y="132588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Despite political pressure, MOPI had a strong teaching staff. Famous historians worked here: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212080" y="20756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806440" y="21305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N. L. Rubinstein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92440" y="21031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 of the History of the USSR department</a:t>
            </a:r>
            <a:endParaRPr lang="en-US" sz="1400" dirty="0"/>
          </a:p>
        </p:txBody>
      </p:sp>
      <p:sp>
        <p:nvSpPr>
          <p:cNvPr id="8" name="Row rule 1"/>
          <p:cNvSpPr/>
          <p:nvPr/>
        </p:nvSpPr>
        <p:spPr>
          <a:xfrm>
            <a:off x="5212080" y="2624328"/>
            <a:ext cx="640080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12080" y="2697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2752344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B. A. Rybakov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272491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future academician, worked at MOPI from 1934 to 1952</a:t>
            </a:r>
            <a:endParaRPr lang="en-US" sz="1400" dirty="0"/>
          </a:p>
        </p:txBody>
      </p:sp>
      <p:sp>
        <p:nvSpPr>
          <p:cNvPr id="12" name="Row rule 2"/>
          <p:cNvSpPr/>
          <p:nvPr/>
        </p:nvSpPr>
        <p:spPr>
          <a:xfrm>
            <a:off x="5212080" y="3246120"/>
            <a:ext cx="640080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12080" y="33192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337413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V. M. Khvostov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3346704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 of the Modern History department</a:t>
            </a:r>
            <a:endParaRPr lang="en-US" sz="1400" dirty="0"/>
          </a:p>
        </p:txBody>
      </p:sp>
      <p:sp>
        <p:nvSpPr>
          <p:cNvPr id="16" name="Row rule 3"/>
          <p:cNvSpPr/>
          <p:nvPr/>
        </p:nvSpPr>
        <p:spPr>
          <a:xfrm>
            <a:off x="5212080" y="3867912"/>
            <a:ext cx="640080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12080" y="39410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39959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B. F. Porshnev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092440" y="396849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 of Ancient and Medieval History</a:t>
            </a:r>
            <a:endParaRPr lang="en-US" sz="1400" dirty="0"/>
          </a:p>
        </p:txBody>
      </p:sp>
      <p:sp>
        <p:nvSpPr>
          <p:cNvPr id="20" name="Row rule 4"/>
          <p:cNvSpPr/>
          <p:nvPr/>
        </p:nvSpPr>
        <p:spPr>
          <a:xfrm>
            <a:off x="5212080" y="4489704"/>
            <a:ext cx="640080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12080" y="456285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4617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A. V. Shestakov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092440" y="459028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author of a school textbook on USSR history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53492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Students remembered these professors as brilliant teachers.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5029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1937–1939: New Steps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FIRST ACADEMIC JOURNAL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1937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089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Uchyonye Zapiski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0332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institute started publishing its own academic journal, “Uchyonye Zapiski.”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16002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POSTGRADUATE STUDIES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160520" y="18745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1939</a:t>
            </a:r>
            <a:endParaRPr lang="en-US" sz="8000" dirty="0"/>
          </a:p>
        </p:txBody>
      </p:sp>
      <p:sp>
        <p:nvSpPr>
          <p:cNvPr id="10" name="Text 8"/>
          <p:cNvSpPr txBox="1"/>
          <p:nvPr/>
        </p:nvSpPr>
        <p:spPr>
          <a:xfrm>
            <a:off x="4160520" y="31089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Aspirantura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370332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Postgraduate studies opened. This was an important step for training young scientists.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94944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of the First Decade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945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teachers graduated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272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from the History faculty alone, 1931–1941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60020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2,582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students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31272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studied at MOPI by June 1941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160020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1931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library founded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272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it grew together with the institute</a:t>
            </a:r>
            <a:endParaRPr lang="en-US" sz="1500" dirty="0"/>
          </a:p>
        </p:txBody>
      </p:sp>
      <p:sp>
        <p:nvSpPr>
          <p:cNvPr id="12" name="Summary card"/>
          <p:cNvSpPr/>
          <p:nvPr/>
        </p:nvSpPr>
        <p:spPr>
          <a:xfrm>
            <a:off x="640080" y="4251960"/>
            <a:ext cx="10908792" cy="16002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9E6475">
                <a:alpha val="1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05840" y="443484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Together with other faculties the number was much bigger. </a:t>
            </a:r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MOPI became one of the leading centres for teacher training in the country.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7223760" y="0"/>
            <a:ext cx="4967935" cy="6858000"/>
          </a:xfrm>
          <a:prstGeom prst="rect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5029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1941: The War Begins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October 15, 1941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CE4E7"/>
                </a:solidFill>
              </a:rPr>
              <a:t>Classes stopped. The institute was evacuated. Students marched to Murom, and later professors and teachers were moved to the town of Malmyzh in the Kirov region.</a:t>
            </a:r>
            <a:endParaRPr lang="en-US" sz="1600" dirty="0"/>
          </a:p>
        </p:txBody>
      </p:sp>
      <p:sp>
        <p:nvSpPr>
          <p:cNvPr id="6" name="Route line"/>
          <p:cNvSpPr/>
          <p:nvPr/>
        </p:nvSpPr>
        <p:spPr>
          <a:xfrm>
            <a:off x="768096" y="3328416"/>
            <a:ext cx="457200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</a:ln>
        </p:spPr>
      </p:sp>
      <p:sp>
        <p:nvSpPr>
          <p:cNvPr id="7" name="Route stop Moscow"/>
          <p:cNvSpPr/>
          <p:nvPr/>
        </p:nvSpPr>
        <p:spPr>
          <a:xfrm>
            <a:off x="640080" y="320040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Moscow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9136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classes stop</a:t>
            </a:r>
            <a:endParaRPr lang="en-US" sz="1300" dirty="0"/>
          </a:p>
        </p:txBody>
      </p:sp>
      <p:sp>
        <p:nvSpPr>
          <p:cNvPr id="10" name="Route stop Murom"/>
          <p:cNvSpPr/>
          <p:nvPr/>
        </p:nvSpPr>
        <p:spPr>
          <a:xfrm>
            <a:off x="2926080" y="320040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Murom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39136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students march here</a:t>
            </a:r>
            <a:endParaRPr lang="en-US" sz="1300" dirty="0"/>
          </a:p>
        </p:txBody>
      </p:sp>
      <p:sp>
        <p:nvSpPr>
          <p:cNvPr id="13" name="Route stop Malmyzh"/>
          <p:cNvSpPr/>
          <p:nvPr/>
        </p:nvSpPr>
        <p:spPr>
          <a:xfrm>
            <a:off x="5212080" y="320040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1208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Malmyzh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39136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Kirov region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526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264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303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E4E7"/>
                </a:solidFill>
              </a:rPr>
              <a:t>full-time students remained by the start of 1941/42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26080" y="4526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273</a:t>
            </a:r>
            <a:endParaRPr lang="en-US" sz="4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5303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E4E7"/>
                </a:solidFill>
              </a:rPr>
              <a:t>students arrived in Malmyzh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4526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</a:t>
            </a:r>
            <a:endParaRPr lang="en-US" sz="48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5303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E4E7"/>
                </a:solidFill>
              </a:rPr>
              <a:t>teachers arrived in Malmyzh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30936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94960" y="14173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TO BE CONTINUED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394960" y="1828800"/>
            <a:ext cx="6126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i="1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But that is already a different page of our history —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394960" y="338328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the war years.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585216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CE4E7"/>
                </a:solidFill>
              </a:rPr>
              <a:t>Margarita Kondakova  ·  Elizaveta Vashchina  ·  Alexandra Abdulmanova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PI Rose">
  <a:themeElements>
    <a:clrScheme name="MOPI Rose">
      <a:dk1>
        <a:srgbClr val="2B2A2E"/>
      </a:dk1>
      <a:lt1>
        <a:srgbClr val="FFFFFF"/>
      </a:lt1>
      <a:dk2>
        <a:srgbClr val="5E5459"/>
      </a:dk2>
      <a:lt2>
        <a:srgbClr val="F6E9ED"/>
      </a:lt2>
      <a:accent1>
        <a:srgbClr val="C48B9C"/>
      </a:accent1>
      <a:accent2>
        <a:srgbClr val="9E6475"/>
      </a:accent2>
      <a:accent3>
        <a:srgbClr val="E8CBD4"/>
      </a:accent3>
      <a:accent4>
        <a:srgbClr val="8C8C91"/>
      </a:accent4>
      <a:accent5>
        <a:srgbClr val="4A4448"/>
      </a:accent5>
      <a:accent6>
        <a:srgbClr val="D9B8A0"/>
      </a:accent6>
      <a:hlink>
        <a:srgbClr val="9E6475"/>
      </a:hlink>
      <a:folHlink>
        <a:srgbClr val="5E5459"/>
      </a:folHlink>
    </a:clrScheme>
    <a:fontScheme name="MOPI Ros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History of My University: 1931-1940</dc:title>
  <dc:subject>PptxGenJS Presentation</dc:subject>
  <dc:creator>Margarita Kondakova, Elizaveta Vashchina, Alexandra Abdulmanova</dc:creator>
  <cp:lastModifiedBy>Margarita Kondakova, Elizaveta Vashchina, Alexandra Abdulmanova</cp:lastModifiedBy>
  <cp:revision>1</cp:revision>
  <dcterms:created xsi:type="dcterms:W3CDTF">2026-10-08T16:53:21Z</dcterms:created>
  <dcterms:modified xsi:type="dcterms:W3CDTF">2026-10-08T16:53:21Z</dcterms:modified>
</cp:coreProperties>
</file>