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53a0a86-09ec-e51e-f725-8fb034a42abc}">
          <p14:sldIdLst>
            <p14:sldId id="256"/>
          </p14:sldIdLst>
        </p14:section>
        <p14:section name="The First Decade" id="{44fea766-0207-4755-e9f8-bd2d21c5ebdd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1941" id="{636576f4-83f0-eb40-48d3-0133e192c734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63040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ush Lef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212080" y="502920"/>
            <a:ext cx="6400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5212080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tx2"/>
                </a:solidFill>
              </a:rPr>
              <a:t>HISTORY OF MY UNIVERSITY  ·  1931–1940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Lef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" name="Text 1"/>
          <p:cNvSpPr/>
          <p:nvPr>
            <p:ph type="pic" idx="101" hasCustomPrompt="1"/>
          </p:nvPr>
        </p:nvSpPr>
        <p:spPr>
          <a:xfrm>
            <a:off x="0" y="0"/>
            <a:ext cx="4572000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5E5459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5E5459"/>
                </a:solidFill>
              </a:rPr>
              <a:t>Click the icon to add a photo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212080" y="502920"/>
            <a:ext cx="6400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5212080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tx2"/>
                </a:solidFill>
              </a:rPr>
              <a:t>HISTORY OF MY UNIVERSITY  ·  1931–1940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R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" name="Text 1"/>
          <p:cNvSpPr/>
          <p:nvPr>
            <p:ph type="pic" idx="101" hasCustomPrompt="1"/>
          </p:nvPr>
        </p:nvSpPr>
        <p:spPr>
          <a:xfrm>
            <a:off x="7863840" y="0"/>
            <a:ext cx="4327855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5E5459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5E5459"/>
                </a:solidFill>
              </a:rPr>
              <a:t>Click the icon to add a photo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40080" y="502920"/>
            <a:ext cx="67665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640080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tx2"/>
                </a:solidFill>
              </a:rPr>
              <a:t>HISTORY OF MY UNIVERSITY  ·  1931–1940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949440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Diagona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0"/>
            <a:ext cx="6339535" cy="68580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" name="Text 1"/>
          <p:cNvSpPr/>
          <p:nvPr>
            <p:ph type="pic" idx="101" hasCustomPrompt="1"/>
          </p:nvPr>
        </p:nvSpPr>
        <p:spPr>
          <a:xfrm>
            <a:off x="5852160" y="0"/>
            <a:ext cx="6339535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5E5459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5E5459"/>
                </a:solidFill>
              </a:rPr>
              <a:t>Click the icon to add a photo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40080" y="502920"/>
            <a:ext cx="51206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640080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tx2"/>
                </a:solidFill>
              </a:rPr>
              <a:t>HISTORY OF MY UNIVERSITY  ·  1931–1940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846320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ose Pane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846320" y="502920"/>
            <a:ext cx="67665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846320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tx2"/>
                </a:solidFill>
              </a:rPr>
              <a:t>HISTORY OF MY UNIVERSITY  ·  1931–1940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640080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tx2"/>
                </a:solidFill>
              </a:rPr>
              <a:t>HISTORY OF MY UNIVERSITY  ·  1931–1940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Blush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640080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tx2"/>
                </a:solidFill>
              </a:rPr>
              <a:t>HISTORY OF MY UNIVERSITY  ·  1931–1940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hoto Righ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0"/>
            <a:ext cx="4967935" cy="685800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3" name="Text 1"/>
          <p:cNvSpPr/>
          <p:nvPr>
            <p:ph type="pic" idx="101" hasCustomPrompt="1"/>
          </p:nvPr>
        </p:nvSpPr>
        <p:spPr>
          <a:xfrm>
            <a:off x="7223760" y="0"/>
            <a:ext cx="4967935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ECE4E7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ECE4E7"/>
                </a:solidFill>
              </a:rPr>
              <a:t>Click the icon to add a photo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40080" y="502920"/>
            <a:ext cx="6309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640080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1"/>
                </a:solidFill>
              </a:rPr>
              <a:t>HISTORY OF MY UNIVERSITY  ·  1931–1940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309360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hoto Lef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3" name="Text 1"/>
          <p:cNvSpPr/>
          <p:nvPr>
            <p:ph type="pic" idx="101" hasCustomPrompt="1"/>
          </p:nvPr>
        </p:nvSpPr>
        <p:spPr>
          <a:xfrm>
            <a:off x="0" y="0"/>
            <a:ext cx="4754880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ECE4E7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ECE4E7"/>
                </a:solidFill>
              </a:rPr>
              <a:t>Click the icon to add a photo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rch outline" descr="/home/user/paintbot/presentation/photos/title_arch_ou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228600"/>
            <a:ext cx="5212080" cy="6400800"/>
          </a:xfrm>
          <a:prstGeom prst="rect">
            <a:avLst/>
          </a:prstGeom>
        </p:spPr>
      </p:pic>
      <p:pic>
        <p:nvPicPr>
          <p:cNvPr id="3" name="MOPI building" descr="Archive photo of the first and main pre-war MOPI building, Moscow, Podsosensky Lane, 2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457200"/>
            <a:ext cx="4754880" cy="58521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MOSCOW REGIONAL PEDAGOGICAL INSTITUTE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146304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spc="200" kern="0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HISTORY OF</a:t>
            </a:r>
            <a:endParaRPr lang="en-US" sz="4000" dirty="0"/>
          </a:p>
          <a:p>
            <a:pPr algn="l" indent="0" marL="0">
              <a:buNone/>
            </a:pPr>
            <a:r>
              <a:rPr lang="en-US" sz="4000" spc="200" kern="0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MY UNIVERSITY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32461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chemeClr val="accent1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1931 – 1940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4572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PRESENTED BY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48920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Margarita Kondakova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Elizaveta Vashchina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Alexandra Abdulmanova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ploma mat"/>
          <p:cNvSpPr/>
          <p:nvPr/>
        </p:nvSpPr>
        <p:spPr>
          <a:xfrm>
            <a:off x="411480" y="1874520"/>
            <a:ext cx="3749040" cy="271576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50800" dir="5400000">
              <a:srgbClr val="5E5459">
                <a:alpha val="25000"/>
              </a:srgbClr>
            </a:outerShdw>
          </a:effectLst>
        </p:spPr>
      </p:sp>
      <p:pic>
        <p:nvPicPr>
          <p:cNvPr id="3" name="Diploma 1931" descr="MOPI diploma, 193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65960"/>
            <a:ext cx="3566160" cy="2532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11480" y="4754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MOPI diploma, 1931</a:t>
            </a:r>
            <a:endParaRPr lang="en-US" sz="1100" dirty="0"/>
          </a:p>
        </p:txBody>
      </p:sp>
      <p:sp>
        <p:nvSpPr>
          <p:cNvPr id="5" name="Decor 1931"/>
          <p:cNvSpPr txBox="1"/>
          <p:nvPr/>
        </p:nvSpPr>
        <p:spPr>
          <a:xfrm>
            <a:off x="5212080" y="45720"/>
            <a:ext cx="6492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0" dirty="0">
                <a:solidFill>
                  <a:schemeClr val="bg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1931</a:t>
            </a:r>
            <a:endParaRPr lang="en-US" sz="15000" dirty="0"/>
          </a:p>
        </p:txBody>
      </p:sp>
      <p:sp>
        <p:nvSpPr>
          <p:cNvPr id="6" name="Text 1"/>
          <p:cNvSpPr/>
          <p:nvPr>
            <p:ph idx="101" type="title" hasCustomPrompt="1"/>
          </p:nvPr>
        </p:nvSpPr>
        <p:spPr>
          <a:xfrm>
            <a:off x="5212080" y="502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It All Began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212080" y="1600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THE BEGINNING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212080" y="192024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 June 1, 1931 our university was founded. At first it was called the Moscow Regional Industrial-Pedagogical Institute. Later it got a simpler name — the Moscow Regional Pedagogical Institute (MOPI).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212080" y="3611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WHY IT WAS NEEDED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212080" y="393192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new institute appeared because the country badly needed teachers. In 1932, the Moscow region introduced universal seven-year education, so schools needed many qualified teachers. The government also wanted MOPI to become a model pedagogical university for other regions.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MOPI"/>
          <p:cNvSpPr txBox="1"/>
          <p:nvPr/>
        </p:nvSpPr>
        <p:spPr>
          <a:xfrm>
            <a:off x="411480" y="502920"/>
            <a:ext cx="3566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5000"/>
              </a:lnSpc>
              <a:buNone/>
            </a:pPr>
            <a:r>
              <a:rPr lang="en-US" sz="15000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</a:t>
            </a:r>
            <a:endParaRPr lang="en-US" sz="150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15000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806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bg1"/>
                </a:solidFill>
              </a:rPr>
              <a:t>LEADERSHIP  ·  1931–1941</a:t>
            </a:r>
            <a:endParaRPr lang="en-US" sz="11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846320" y="5029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Directors of MOPI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37160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The leadership changed quite often, which reflected the difficult political times.</a:t>
            </a:r>
            <a:endParaRPr lang="en-US" sz="1600" dirty="0"/>
          </a:p>
        </p:txBody>
      </p:sp>
      <p:pic>
        <p:nvPicPr>
          <p:cNvPr id="6" name="Portrait Afanasy Vasilyevich Shulgin" descr="Afanasy Vasilyevich Shulg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2194560"/>
            <a:ext cx="868680" cy="1143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89320" y="2468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1931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25237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Afanasy Vasilyevich Shulgin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29077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first director</a:t>
            </a:r>
            <a:endParaRPr lang="en-US" sz="1400" dirty="0"/>
          </a:p>
        </p:txBody>
      </p:sp>
      <p:pic>
        <p:nvPicPr>
          <p:cNvPr id="10" name="Portrait A. A. Savrasova" descr="A. A. Savrasov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493008"/>
            <a:ext cx="868680" cy="11430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989320" y="3767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1935–1936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8001000" y="38221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A. A. Savrasova</a:t>
            </a:r>
            <a:endParaRPr lang="en-US" sz="1800" dirty="0"/>
          </a:p>
        </p:txBody>
      </p:sp>
      <p:pic>
        <p:nvPicPr>
          <p:cNvPr id="13" name="Portrait D. A. Allakhverdyan" descr="D. A. Allakhverdya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4791456"/>
            <a:ext cx="868680" cy="11430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989320" y="506577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1938–1941</a:t>
            </a:r>
            <a:endParaRPr lang="en-US" sz="2600" dirty="0"/>
          </a:p>
        </p:txBody>
      </p:sp>
      <p:sp>
        <p:nvSpPr>
          <p:cNvPr id="15" name="Text 10"/>
          <p:cNvSpPr txBox="1"/>
          <p:nvPr/>
        </p:nvSpPr>
        <p:spPr>
          <a:xfrm>
            <a:off x="8001000" y="5120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D. A. Allakhverdyan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aculties_chem1931.jpg" descr="Chemistry students of the first MOPI intake, 193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0"/>
            <a:ext cx="6339535" cy="6858000"/>
          </a:xfrm>
          <a:prstGeom prst="rect">
            <a:avLst/>
          </a:prstGeom>
        </p:spPr>
      </p:pic>
      <p:sp>
        <p:nvSpPr>
          <p:cNvPr id="3" name="Diagonal cut"/>
          <p:cNvSpPr/>
          <p:nvPr/>
        </p:nvSpPr>
        <p:spPr>
          <a:xfrm flipV="1">
            <a:off x="5843016" y="-9144"/>
            <a:ext cx="2103120" cy="6876288"/>
          </a:xfrm>
          <a:prstGeom prst="rtTriangl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Diagonal line"/>
          <p:cNvSpPr/>
          <p:nvPr/>
        </p:nvSpPr>
        <p:spPr>
          <a:xfrm flipH="1">
            <a:off x="5989320" y="0"/>
            <a:ext cx="2011680" cy="685800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5" name="Caption strip"/>
          <p:cNvSpPr/>
          <p:nvPr/>
        </p:nvSpPr>
        <p:spPr>
          <a:xfrm>
            <a:off x="7863840" y="6172200"/>
            <a:ext cx="4325112" cy="384048"/>
          </a:xfrm>
          <a:prstGeom prst="rect">
            <a:avLst/>
          </a:prstGeom>
          <a:solidFill>
            <a:schemeClr val="tx1">
              <a:alpha val="7500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0" y="6172200"/>
            <a:ext cx="4050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bg1"/>
                </a:solidFill>
              </a:rPr>
              <a:t>Chemistry students of the first MOPI intake, 1931</a:t>
            </a:r>
            <a:endParaRPr lang="en-US" sz="1100" dirty="0"/>
          </a:p>
        </p:txBody>
      </p:sp>
      <p:sp>
        <p:nvSpPr>
          <p:cNvPr id="7" name="Text 1"/>
          <p:cNvSpPr/>
          <p:nvPr>
            <p:ph idx="102" type="title" hasCustomPrompt="1"/>
          </p:nvPr>
        </p:nvSpPr>
        <p:spPr>
          <a:xfrm>
            <a:off x="640080" y="5029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First Faculties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At the start, the institute had three faculties: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0116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2103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Social and Literary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508760" y="2468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with a history department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8803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1508760" y="2971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Physics and Mathematics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3749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3840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Chemistry and Technology</a:t>
            </a:r>
            <a:endParaRPr lang="en-US" sz="1900" dirty="0"/>
          </a:p>
        </p:txBody>
      </p:sp>
      <p:sp>
        <p:nvSpPr>
          <p:cNvPr id="16" name="Stat card 1"/>
          <p:cNvSpPr/>
          <p:nvPr/>
        </p:nvSpPr>
        <p:spPr>
          <a:xfrm>
            <a:off x="640080" y="4754880"/>
            <a:ext cx="2377440" cy="1143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" y="4846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36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5440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departments</a:t>
            </a:r>
            <a:endParaRPr lang="en-US" sz="1400" dirty="0"/>
          </a:p>
        </p:txBody>
      </p:sp>
      <p:sp>
        <p:nvSpPr>
          <p:cNvPr id="19" name="Stat card 2"/>
          <p:cNvSpPr/>
          <p:nvPr/>
        </p:nvSpPr>
        <p:spPr>
          <a:xfrm>
            <a:off x="3200400" y="4754880"/>
            <a:ext cx="2377440" cy="1143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429000" y="4846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3600" dirty="0"/>
          </a:p>
        </p:txBody>
      </p:sp>
      <p:sp>
        <p:nvSpPr>
          <p:cNvPr id="21" name="Text 18"/>
          <p:cNvSpPr txBox="1"/>
          <p:nvPr/>
        </p:nvSpPr>
        <p:spPr>
          <a:xfrm>
            <a:off x="3429000" y="5440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methodical office</a:t>
            </a:r>
            <a:endParaRPr lang="en-US" sz="1400" dirty="0"/>
          </a:p>
        </p:txBody>
      </p:sp>
      <p:sp>
        <p:nvSpPr>
          <p:cNvPr id="22" name="Text 1"/>
          <p:cNvSpPr/>
          <p:nvPr>
            <p:ph type="pic" idx="101" hasCustomPrompt="1"/>
          </p:nvPr>
        </p:nvSpPr>
        <p:spPr>
          <a:xfrm>
            <a:off x="5852160" y="0"/>
            <a:ext cx="6339535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846320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Growth in 1932–1935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The institute grew quickly.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BY 1933 — SIX FULL-TIME FACULTIES</a:t>
            </a:r>
            <a:endParaRPr lang="en-US" sz="1100" dirty="0"/>
          </a:p>
        </p:txBody>
      </p:sp>
      <p:sp>
        <p:nvSpPr>
          <p:cNvPr id="5" name="Faculty Literature"/>
          <p:cNvSpPr/>
          <p:nvPr/>
        </p:nvSpPr>
        <p:spPr>
          <a:xfrm>
            <a:off x="640080" y="2331720"/>
            <a:ext cx="1920240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3317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3317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</a:t>
            </a:r>
            <a:endParaRPr lang="en-US" sz="1700" dirty="0"/>
          </a:p>
        </p:txBody>
      </p:sp>
      <p:sp>
        <p:nvSpPr>
          <p:cNvPr id="8" name="Faculty Geography"/>
          <p:cNvSpPr/>
          <p:nvPr/>
        </p:nvSpPr>
        <p:spPr>
          <a:xfrm>
            <a:off x="2743200" y="2331720"/>
            <a:ext cx="1920240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07792" y="23317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10128" y="23317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Geography</a:t>
            </a:r>
            <a:endParaRPr lang="en-US" sz="1700" dirty="0"/>
          </a:p>
        </p:txBody>
      </p:sp>
      <p:sp>
        <p:nvSpPr>
          <p:cNvPr id="11" name="Faculty Physics"/>
          <p:cNvSpPr/>
          <p:nvPr/>
        </p:nvSpPr>
        <p:spPr>
          <a:xfrm>
            <a:off x="4846320" y="2331720"/>
            <a:ext cx="1920240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10912" y="23317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13248" y="23317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Physics</a:t>
            </a:r>
            <a:endParaRPr lang="en-US" sz="1700" dirty="0"/>
          </a:p>
        </p:txBody>
      </p:sp>
      <p:sp>
        <p:nvSpPr>
          <p:cNvPr id="14" name="Faculty Chemistry"/>
          <p:cNvSpPr/>
          <p:nvPr/>
        </p:nvSpPr>
        <p:spPr>
          <a:xfrm>
            <a:off x="640080" y="3246120"/>
            <a:ext cx="1920240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" y="32461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2461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Chemistry</a:t>
            </a:r>
            <a:endParaRPr lang="en-US" sz="1700" dirty="0"/>
          </a:p>
        </p:txBody>
      </p:sp>
      <p:sp>
        <p:nvSpPr>
          <p:cNvPr id="17" name="Faculty Economics"/>
          <p:cNvSpPr/>
          <p:nvPr/>
        </p:nvSpPr>
        <p:spPr>
          <a:xfrm>
            <a:off x="2743200" y="3246120"/>
            <a:ext cx="1920240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07792" y="32461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310128" y="32461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Economics</a:t>
            </a:r>
            <a:endParaRPr lang="en-US" sz="1700" dirty="0"/>
          </a:p>
        </p:txBody>
      </p:sp>
      <p:sp>
        <p:nvSpPr>
          <p:cNvPr id="20" name="Faculty History"/>
          <p:cNvSpPr/>
          <p:nvPr/>
        </p:nvSpPr>
        <p:spPr>
          <a:xfrm>
            <a:off x="4846320" y="3246120"/>
            <a:ext cx="1920240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10912" y="32461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13248" y="32461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History</a:t>
            </a:r>
            <a:endParaRPr lang="en-US" sz="1700" dirty="0"/>
          </a:p>
        </p:txBody>
      </p:sp>
      <p:sp>
        <p:nvSpPr>
          <p:cNvPr id="23" name="Growth card 1"/>
          <p:cNvSpPr/>
          <p:nvPr/>
        </p:nvSpPr>
        <p:spPr>
          <a:xfrm>
            <a:off x="640080" y="4297680"/>
            <a:ext cx="2971800" cy="1691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38912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1932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1874520" y="4389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Correspondence department opened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0292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People could become teachers without leaving their jobs.</a:t>
            </a:r>
            <a:endParaRPr lang="en-US" sz="1300" dirty="0"/>
          </a:p>
        </p:txBody>
      </p:sp>
      <p:sp>
        <p:nvSpPr>
          <p:cNvPr id="27" name="Growth card 2"/>
          <p:cNvSpPr/>
          <p:nvPr/>
        </p:nvSpPr>
        <p:spPr>
          <a:xfrm>
            <a:off x="3794760" y="4297680"/>
            <a:ext cx="2971800" cy="1691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977640" y="438912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0" y="4389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First graduates, 1934/35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3977640" y="50292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All from the History faculty — the number was small because the university was still very young.</a:t>
            </a:r>
            <a:endParaRPr lang="en-US" sz="1300" dirty="0"/>
          </a:p>
        </p:txBody>
      </p:sp>
      <p:pic>
        <p:nvPicPr>
          <p:cNvPr id="31" name="growth_uzboy.jpg" descr="MOPI geographical expedition to the Uzboy river (Turkmenistan), early 1930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417320"/>
            <a:ext cx="4279392" cy="3200400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7269480" y="4709160"/>
            <a:ext cx="4279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Geographical expedition of MOPI to the Uzboy river (Turkmenistan), early 1930s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pic" idx="101" hasCustomPrompt="1"/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212080" y="502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Famous Professors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212080" y="13258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Despite political pressure, MOPI had a strong teaching staff. Famous historians worked here: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212080" y="20756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806440" y="21305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N. L. Rubinstein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092440" y="21031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head of the History of the USSR department</a:t>
            </a:r>
            <a:endParaRPr lang="en-US" sz="1400" dirty="0"/>
          </a:p>
        </p:txBody>
      </p:sp>
      <p:sp>
        <p:nvSpPr>
          <p:cNvPr id="8" name="Row rule 1"/>
          <p:cNvSpPr/>
          <p:nvPr/>
        </p:nvSpPr>
        <p:spPr>
          <a:xfrm>
            <a:off x="5212080" y="2624328"/>
            <a:ext cx="640080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12080" y="2697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2752344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B. A. Rybakov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092440" y="272491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future academician, worked at MOPI from 1934 to 1952</a:t>
            </a:r>
            <a:endParaRPr lang="en-US" sz="1400" dirty="0"/>
          </a:p>
        </p:txBody>
      </p:sp>
      <p:sp>
        <p:nvSpPr>
          <p:cNvPr id="12" name="Row rule 2"/>
          <p:cNvSpPr/>
          <p:nvPr/>
        </p:nvSpPr>
        <p:spPr>
          <a:xfrm>
            <a:off x="5212080" y="3246120"/>
            <a:ext cx="640080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12080" y="33192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806440" y="337413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V. M. Khvostov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3346704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head of the Modern History department</a:t>
            </a:r>
            <a:endParaRPr lang="en-US" sz="1400" dirty="0"/>
          </a:p>
        </p:txBody>
      </p:sp>
      <p:sp>
        <p:nvSpPr>
          <p:cNvPr id="16" name="Row rule 3"/>
          <p:cNvSpPr/>
          <p:nvPr/>
        </p:nvSpPr>
        <p:spPr>
          <a:xfrm>
            <a:off x="5212080" y="3867912"/>
            <a:ext cx="640080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12080" y="39410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806440" y="39959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B. F. Porshnev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092440" y="396849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head of Ancient and Medieval History</a:t>
            </a:r>
            <a:endParaRPr lang="en-US" sz="1400" dirty="0"/>
          </a:p>
        </p:txBody>
      </p:sp>
      <p:sp>
        <p:nvSpPr>
          <p:cNvPr id="20" name="Row rule 4"/>
          <p:cNvSpPr/>
          <p:nvPr/>
        </p:nvSpPr>
        <p:spPr>
          <a:xfrm>
            <a:off x="5212080" y="4489704"/>
            <a:ext cx="640080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12080" y="45628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5806440" y="4617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A. V. Shestakov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092440" y="459028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author of a school textbook on USSR history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5349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Students remembered these professors as brilliant teachers.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1937–1939: New Steps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FIRST ACADEMIC JOURNAL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1937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108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Uchyonye Zapiski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033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institute started publishing its own academic journal, “Uchyonye Zapiski.”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88620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POSTGRADUATE STUDIES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886200" y="18745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1939</a:t>
            </a:r>
            <a:endParaRPr lang="en-US" sz="8000" dirty="0"/>
          </a:p>
        </p:txBody>
      </p:sp>
      <p:sp>
        <p:nvSpPr>
          <p:cNvPr id="9" name="Text 7"/>
          <p:cNvSpPr txBox="1"/>
          <p:nvPr/>
        </p:nvSpPr>
        <p:spPr>
          <a:xfrm>
            <a:off x="3886200" y="3108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Aspirantura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886200" y="37033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Postgraduate studies opened. This was an important step for training young scientists.</a:t>
            </a:r>
            <a:endParaRPr lang="en-US" sz="1600" dirty="0"/>
          </a:p>
        </p:txBody>
      </p:sp>
      <p:pic>
        <p:nvPicPr>
          <p:cNvPr id="11" name="steps_rybakov.jpg" descr="B. A. Rybakov with MOPI students at archaeological excav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600200"/>
            <a:ext cx="4325112" cy="26974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223760" y="4389120"/>
            <a:ext cx="4325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B. A. Rybakov with MOPI students at archaeological excavations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of the First Decade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0020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945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teachers graduated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1272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from the History faculty alone, 1931–1941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160020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2,582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2743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students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31272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studied at MOPI by June 1941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160020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1931</a:t>
            </a:r>
            <a:endParaRPr lang="en-US" sz="72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2743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library founded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31272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it grew together with the institute</a:t>
            </a:r>
            <a:endParaRPr lang="en-US" sz="1500" dirty="0"/>
          </a:p>
        </p:txBody>
      </p:sp>
      <p:sp>
        <p:nvSpPr>
          <p:cNvPr id="12" name="Summary card"/>
          <p:cNvSpPr/>
          <p:nvPr/>
        </p:nvSpPr>
        <p:spPr>
          <a:xfrm>
            <a:off x="640080" y="4251960"/>
            <a:ext cx="10908792" cy="1600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52400" dist="38100" dir="5400000">
              <a:srgbClr val="9E6475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005840" y="4434840"/>
            <a:ext cx="10149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Together with other faculties the number was much bigger. </a:t>
            </a:r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MOPI became one of the leading centres for teacher training in the country.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ar_building.jpg" descr="The first and main pre-war MOPI building, Moscow, Podsosensky Lane, 2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0"/>
            <a:ext cx="4967935" cy="6858000"/>
          </a:xfrm>
          <a:prstGeom prst="rect">
            <a:avLst/>
          </a:prstGeom>
        </p:spPr>
      </p:pic>
      <p:sp>
        <p:nvSpPr>
          <p:cNvPr id="3" name="Caption strip"/>
          <p:cNvSpPr/>
          <p:nvPr/>
        </p:nvSpPr>
        <p:spPr>
          <a:xfrm>
            <a:off x="7223760" y="6172200"/>
            <a:ext cx="4967935" cy="384048"/>
          </a:xfrm>
          <a:prstGeom prst="rect">
            <a:avLst/>
          </a:prstGeom>
          <a:solidFill>
            <a:schemeClr val="tx1">
              <a:alpha val="7500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60920" y="6172200"/>
            <a:ext cx="4693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bg1"/>
                </a:solidFill>
              </a:rPr>
              <a:t>MOPI's main pre-war building, Podsosensky Lane, 20</a:t>
            </a:r>
            <a:endParaRPr lang="en-US" sz="110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640080" y="5029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1941: The War Begins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2801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1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October 15, 1941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2024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CE4E7"/>
                </a:solidFill>
              </a:rPr>
              <a:t>Classes stopped. The institute was evacuated. Students marched to Murom, and later professors and teachers were moved to the town of Malmyzh in the Kirov region.</a:t>
            </a:r>
            <a:endParaRPr lang="en-US" sz="1600" dirty="0"/>
          </a:p>
        </p:txBody>
      </p:sp>
      <p:sp>
        <p:nvSpPr>
          <p:cNvPr id="8" name="Route line"/>
          <p:cNvSpPr/>
          <p:nvPr/>
        </p:nvSpPr>
        <p:spPr>
          <a:xfrm>
            <a:off x="768096" y="3328416"/>
            <a:ext cx="45720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</a:ln>
        </p:spPr>
      </p:sp>
      <p:sp>
        <p:nvSpPr>
          <p:cNvPr id="9" name="Route stop Moscow"/>
          <p:cNvSpPr/>
          <p:nvPr/>
        </p:nvSpPr>
        <p:spPr>
          <a:xfrm>
            <a:off x="640080" y="3200400"/>
            <a:ext cx="256032" cy="25603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3566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Moscow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913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classes stop</a:t>
            </a:r>
            <a:endParaRPr lang="en-US" sz="1300" dirty="0"/>
          </a:p>
        </p:txBody>
      </p:sp>
      <p:sp>
        <p:nvSpPr>
          <p:cNvPr id="12" name="Route stop Murom"/>
          <p:cNvSpPr/>
          <p:nvPr/>
        </p:nvSpPr>
        <p:spPr>
          <a:xfrm>
            <a:off x="2926080" y="3200400"/>
            <a:ext cx="256032" cy="25603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26080" y="3566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Murom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2926080" y="3913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students march here</a:t>
            </a:r>
            <a:endParaRPr lang="en-US" sz="1300" dirty="0"/>
          </a:p>
        </p:txBody>
      </p:sp>
      <p:sp>
        <p:nvSpPr>
          <p:cNvPr id="15" name="Route stop Malmyzh"/>
          <p:cNvSpPr/>
          <p:nvPr/>
        </p:nvSpPr>
        <p:spPr>
          <a:xfrm>
            <a:off x="5212080" y="3200400"/>
            <a:ext cx="256032" cy="25603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212080" y="3566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Malmyzh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5212080" y="3913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Kirov region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45262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264</a:t>
            </a:r>
            <a:endParaRPr lang="en-US" sz="48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53035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E4E7"/>
                </a:solidFill>
              </a:rPr>
              <a:t>full-time students remained by the start of 1941/42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2926080" y="45262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273</a:t>
            </a:r>
            <a:endParaRPr lang="en-US" sz="4800" dirty="0"/>
          </a:p>
        </p:txBody>
      </p:sp>
      <p:sp>
        <p:nvSpPr>
          <p:cNvPr id="21" name="Text 18"/>
          <p:cNvSpPr txBox="1"/>
          <p:nvPr/>
        </p:nvSpPr>
        <p:spPr>
          <a:xfrm>
            <a:off x="2926080" y="53035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E4E7"/>
                </a:solidFill>
              </a:rPr>
              <a:t>students arrived in Malmyzh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212080" y="45262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26</a:t>
            </a:r>
            <a:endParaRPr lang="en-US" sz="4800" dirty="0"/>
          </a:p>
        </p:txBody>
      </p:sp>
      <p:sp>
        <p:nvSpPr>
          <p:cNvPr id="23" name="Text 20"/>
          <p:cNvSpPr txBox="1"/>
          <p:nvPr/>
        </p:nvSpPr>
        <p:spPr>
          <a:xfrm>
            <a:off x="5212080" y="53035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E4E7"/>
                </a:solidFill>
              </a:rPr>
              <a:t>teachers arrived in Malmyzh</a:t>
            </a:r>
            <a:endParaRPr lang="en-US" sz="1400" dirty="0"/>
          </a:p>
        </p:txBody>
      </p:sp>
      <p:sp>
        <p:nvSpPr>
          <p:cNvPr id="24" name="Text 1"/>
          <p:cNvSpPr/>
          <p:nvPr>
            <p:ph type="pic" idx="101" hasCustomPrompt="1"/>
          </p:nvPr>
        </p:nvSpPr>
        <p:spPr>
          <a:xfrm>
            <a:off x="7223760" y="0"/>
            <a:ext cx="4967935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309360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osing_group1933.jpg" descr="Group A, 2nd year, Literature faculty of MOPI, 193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754880" cy="6858000"/>
          </a:xfrm>
          <a:prstGeom prst="rect">
            <a:avLst/>
          </a:prstGeom>
        </p:spPr>
      </p:pic>
      <p:sp>
        <p:nvSpPr>
          <p:cNvPr id="3" name="Caption strip"/>
          <p:cNvSpPr/>
          <p:nvPr/>
        </p:nvSpPr>
        <p:spPr>
          <a:xfrm>
            <a:off x="0" y="6172200"/>
            <a:ext cx="4754880" cy="384048"/>
          </a:xfrm>
          <a:prstGeom prst="rect">
            <a:avLst/>
          </a:prstGeom>
          <a:solidFill>
            <a:schemeClr val="tx1">
              <a:alpha val="7500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37160" y="61722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bg1"/>
                </a:solidFill>
              </a:rPr>
              <a:t>Literature faculty students, 1933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394960" y="141732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TO BE CONTINUED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394960" y="1828800"/>
            <a:ext cx="6126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i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But that is already a different page of our history —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394960" y="338328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accent1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the war years.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394960" y="585216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CE4E7"/>
                </a:solidFill>
              </a:rPr>
              <a:t>Margarita Kondakova  ·  Elizaveta Vashchina  ·  Alexandra Abdulmanova</a:t>
            </a:r>
            <a:endParaRPr lang="en-US" sz="1200" dirty="0"/>
          </a:p>
        </p:txBody>
      </p:sp>
      <p:sp>
        <p:nvSpPr>
          <p:cNvPr id="9" name="Text 1"/>
          <p:cNvSpPr/>
          <p:nvPr>
            <p:ph type="pic" idx="101" hasCustomPrompt="1"/>
          </p:nvPr>
        </p:nvSpPr>
        <p:spPr>
          <a:xfrm>
            <a:off x="0" y="0"/>
            <a:ext cx="4754880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PI Rose">
  <a:themeElements>
    <a:clrScheme name="MOPI Rose">
      <a:dk1>
        <a:srgbClr val="2B2A2E"/>
      </a:dk1>
      <a:lt1>
        <a:srgbClr val="FFFFFF"/>
      </a:lt1>
      <a:dk2>
        <a:srgbClr val="5E5459"/>
      </a:dk2>
      <a:lt2>
        <a:srgbClr val="F6E9ED"/>
      </a:lt2>
      <a:accent1>
        <a:srgbClr val="C48B9C"/>
      </a:accent1>
      <a:accent2>
        <a:srgbClr val="9E6475"/>
      </a:accent2>
      <a:accent3>
        <a:srgbClr val="E8CBD4"/>
      </a:accent3>
      <a:accent4>
        <a:srgbClr val="8C8C91"/>
      </a:accent4>
      <a:accent5>
        <a:srgbClr val="4A4448"/>
      </a:accent5>
      <a:accent6>
        <a:srgbClr val="D9B8A0"/>
      </a:accent6>
      <a:hlink>
        <a:srgbClr val="9E6475"/>
      </a:hlink>
      <a:folHlink>
        <a:srgbClr val="5E5459"/>
      </a:folHlink>
    </a:clrScheme>
    <a:fontScheme name="MOPI Ros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History of My University: 1931-1940</dc:title>
  <dc:subject>PptxGenJS Presentation</dc:subject>
  <dc:creator>Margarita Kondakova, Elizaveta Vashchina, Alexandra Abdulmanova</dc:creator>
  <cp:lastModifiedBy>Margarita Kondakova, Elizaveta Vashchina, Alexandra Abdulmanova</cp:lastModifiedBy>
  <cp:revision>1</cp:revision>
  <dcterms:created xsi:type="dcterms:W3CDTF">2026-10-08T17:46:42Z</dcterms:created>
  <dcterms:modified xsi:type="dcterms:W3CDTF">2026-10-08T17:46:42Z</dcterms:modified>
</cp:coreProperties>
</file>